
<file path=[Content_Types].xml><?xml version="1.0" encoding="utf-8"?>
<Types xmlns="http://schemas.openxmlformats.org/package/2006/content-types">
  <Override PartName="/ppt/slideMasters/slideMaster2.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5"/>
  </p:notesMasterIdLst>
  <p:sldIdLst>
    <p:sldId id="256" r:id="rId3"/>
    <p:sldId id="571" r:id="rId4"/>
    <p:sldId id="572" r:id="rId5"/>
    <p:sldId id="573" r:id="rId6"/>
    <p:sldId id="574" r:id="rId7"/>
    <p:sldId id="575" r:id="rId8"/>
    <p:sldId id="576" r:id="rId9"/>
    <p:sldId id="580"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73818" autoAdjust="0"/>
  </p:normalViewPr>
  <p:slideViewPr>
    <p:cSldViewPr snapToGrid="0">
      <p:cViewPr varScale="1">
        <p:scale>
          <a:sx n="72" d="100"/>
          <a:sy n="72" d="100"/>
        </p:scale>
        <p:origin x="-636" y="-96"/>
      </p:cViewPr>
      <p:guideLst>
        <p:guide orient="horz" pos="672"/>
        <p:guide orient="horz" pos="912"/>
        <p:guide pos="312"/>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pPr/>
              <a:t>15-02-2026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pPr/>
              <a:t>‹#›</a:t>
            </a:fld>
            <a:endParaRPr lang="en-IN"/>
          </a:p>
        </p:txBody>
      </p:sp>
    </p:spTree>
    <p:extLst>
      <p:ext uri="{BB962C8B-B14F-4D97-AF65-F5344CB8AC3E}">
        <p14:creationId xmlns=""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pPr/>
              <a:t>1</a:t>
            </a:fld>
            <a:endParaRPr lang="en-IN"/>
          </a:p>
        </p:txBody>
      </p:sp>
    </p:spTree>
    <p:extLst>
      <p:ext uri="{BB962C8B-B14F-4D97-AF65-F5344CB8AC3E}">
        <p14:creationId xmlns=""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pPr/>
              <a:t>12</a:t>
            </a:fld>
            <a:endParaRPr lang="en-IN"/>
          </a:p>
        </p:txBody>
      </p:sp>
    </p:spTree>
    <p:extLst>
      <p:ext uri="{BB962C8B-B14F-4D97-AF65-F5344CB8AC3E}">
        <p14:creationId xmlns=""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 xmlns:p14="http://schemas.microsoft.com/office/powerpoint/2010/main" val="4062684690"/>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 xmlns:p14="http://schemas.microsoft.com/office/powerpoint/2010/main" val="976909704"/>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pPr/>
              <a:t>15-02-2026</a:t>
            </a:fld>
            <a:endParaRPr lang="en-IN"/>
          </a:p>
        </p:txBody>
      </p:sp>
      <p:sp>
        <p:nvSpPr>
          <p:cNvPr id="5" name="Footer Placeholder 4">
            <a:extLst>
              <a:ext uri="{FF2B5EF4-FFF2-40B4-BE49-F238E27FC236}">
                <a16:creationId xmlns=""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pPr/>
              <a:t>‹#›</a:t>
            </a:fld>
            <a:endParaRPr lang="en-IN"/>
          </a:p>
        </p:txBody>
      </p:sp>
    </p:spTree>
    <p:extLst>
      <p:ext uri="{BB962C8B-B14F-4D97-AF65-F5344CB8AC3E}">
        <p14:creationId xmlns=""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2/15/2026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pPr/>
              <a:t>15/02/2026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 xmlns:p14="http://schemas.microsoft.com/office/powerpoint/2010/main" val="979747656"/>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 xmlns:a16="http://schemas.microsoft.com/office/drawing/2014/main" id="{66C649D9-DD8B-5B7D-F409-A3797AEF3D36}"/>
              </a:ext>
            </a:extLst>
          </p:cNvPr>
          <p:cNvPicPr>
            <a:picLocks noChangeAspect="1" noChangeArrowheads="1"/>
          </p:cNvPicPr>
          <p:nvPr userDrawn="1"/>
        </p:nvPicPr>
        <p:blipFill>
          <a:blip r:embed="rId8" cstate="print">
            <a:extLst>
              <a:ext uri="{28A0092B-C50C-407E-A947-70E740481C1C}">
                <a14:useLocalDpi xmlns=""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 xmlns:a14="http://schemas.microsoft.com/office/drawing/2010/main">
                <a:solidFill>
                  <a:srgbClr val="FFFFFF"/>
                </a:solidFill>
              </a14:hiddenFill>
            </a:ext>
          </a:extLst>
        </p:spPr>
      </p:pic>
    </p:spTree>
    <p:custDataLst>
      <p:tags r:id="rId7"/>
    </p:custDataLst>
    <p:extLst>
      <p:ext uri="{BB962C8B-B14F-4D97-AF65-F5344CB8AC3E}">
        <p14:creationId xmlns=""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tejasvi1211/Predictive-Maintenance-Mode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 xmlns:a16="http://schemas.microsoft.com/office/drawing/2014/main" id="{4D362339-2CD4-BEA9-8BCD-81A300A3C9CD}"/>
              </a:ext>
            </a:extLst>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 xmlns:a14="http://schemas.microsoft.com/office/drawing/2010/main">
                <a:solidFill>
                  <a:srgbClr val="FFFFFF"/>
                </a:solidFill>
              </a14:hiddenFill>
            </a:ext>
          </a:extLst>
        </p:spPr>
      </p:pic>
      <p:sp>
        <p:nvSpPr>
          <p:cNvPr id="2" name="Rectangle 1">
            <a:extLst>
              <a:ext uri="{FF2B5EF4-FFF2-40B4-BE49-F238E27FC236}">
                <a16:creationId xmlns="" xmlns:a16="http://schemas.microsoft.com/office/drawing/2014/main" id="{91DC6ABD-215C-4EA8-A483-CEF5B99AB3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r>
              <a:rPr lang="en-US" sz="5100" b="1" dirty="0"/>
              <a:t/>
            </a:r>
            <a:br>
              <a:rPr lang="en-US" sz="5100" b="1" dirty="0"/>
            </a:br>
            <a:r>
              <a:rPr lang="en-US" sz="5100" b="1" cap="all" dirty="0" smtClean="0">
                <a:latin typeface="Aptos"/>
              </a:rPr>
              <a:t>Predictive maintenance model</a:t>
            </a:r>
            <a:endParaRPr lang="en-US" sz="5100" dirty="0">
              <a:latin typeface="Aptos"/>
            </a:endParaRPr>
          </a:p>
          <a:p>
            <a:pPr algn="l"/>
            <a:endParaRPr lang="en-US" sz="5100" b="1" kern="1200" dirty="0"/>
          </a:p>
        </p:txBody>
      </p:sp>
      <p:sp>
        <p:nvSpPr>
          <p:cNvPr id="5" name="Subtitle 2">
            <a:extLst>
              <a:ext uri="{FF2B5EF4-FFF2-40B4-BE49-F238E27FC236}">
                <a16:creationId xmlns=""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r>
              <a:rPr lang="en-US" sz="1600" b="1" cap="all" dirty="0" smtClean="0"/>
              <a:t>: TEJASVI </a:t>
            </a:r>
            <a:endParaRPr lang="en-US" sz="1600" b="1" cap="all" dirty="0"/>
          </a:p>
          <a:p>
            <a:pPr algn="l">
              <a:spcAft>
                <a:spcPts val="600"/>
              </a:spcAft>
            </a:pPr>
            <a:r>
              <a:rPr lang="en-US" sz="1600" b="1" cap="all" dirty="0"/>
              <a:t>College Name</a:t>
            </a:r>
            <a:r>
              <a:rPr lang="en-US" sz="1600" b="1" cap="all" dirty="0" smtClean="0"/>
              <a:t>: SANSKARAM UNIVERSITY</a:t>
            </a:r>
            <a:endParaRPr lang="en-US" sz="1600" b="1" cap="all" dirty="0"/>
          </a:p>
          <a:p>
            <a:pPr algn="l">
              <a:spcAft>
                <a:spcPts val="600"/>
              </a:spcAft>
            </a:pPr>
            <a:r>
              <a:rPr lang="en-US" sz="1600" b="1" cap="all" dirty="0"/>
              <a:t>Department</a:t>
            </a:r>
            <a:r>
              <a:rPr lang="en-US" sz="1600" b="1" cap="all" dirty="0" smtClean="0"/>
              <a:t>: CSE</a:t>
            </a:r>
            <a:endParaRPr lang="en-US" sz="1600" b="1" cap="all" dirty="0"/>
          </a:p>
          <a:p>
            <a:pPr algn="l">
              <a:spcAft>
                <a:spcPts val="600"/>
              </a:spcAft>
            </a:pPr>
            <a:r>
              <a:rPr lang="en-US" sz="1600" b="1" cap="all" dirty="0"/>
              <a:t>Email ID</a:t>
            </a:r>
            <a:r>
              <a:rPr lang="en-US" sz="1600" b="1" cap="all" dirty="0" smtClean="0"/>
              <a:t>: </a:t>
            </a:r>
            <a:r>
              <a:rPr lang="en-US" sz="1600" b="1" dirty="0" smtClean="0">
                <a:latin typeface="Arial" pitchFamily="34" charset="0"/>
                <a:cs typeface="Arial" pitchFamily="34" charset="0"/>
              </a:rPr>
              <a:t>tejasvi12110@gmail.co</a:t>
            </a:r>
            <a:r>
              <a:rPr lang="en-US" sz="1600" b="1" dirty="0" smtClean="0"/>
              <a:t>m</a:t>
            </a:r>
            <a:endParaRPr lang="en-US" sz="1600" b="1" cap="all" dirty="0"/>
          </a:p>
        </p:txBody>
      </p:sp>
      <p:sp>
        <p:nvSpPr>
          <p:cNvPr id="8" name="Rectangle 7">
            <a:extLst>
              <a:ext uri="{FF2B5EF4-FFF2-40B4-BE49-F238E27FC236}">
                <a16:creationId xmlns="" xmlns:a16="http://schemas.microsoft.com/office/drawing/2014/main" id="{04357C93-F0CB-4A1C-8F77-4E906378981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338" name="Picture 2" descr="C:\Users\admin\Downloads\WhatsApp Image 2026-02-15 at 16.42.16.jpeg"/>
          <p:cNvPicPr>
            <a:picLocks noChangeAspect="1" noChangeArrowheads="1"/>
          </p:cNvPicPr>
          <p:nvPr/>
        </p:nvPicPr>
        <p:blipFill>
          <a:blip r:embed="rId5"/>
          <a:srcRect/>
          <a:stretch>
            <a:fillRect/>
          </a:stretch>
        </p:blipFill>
        <p:spPr bwMode="auto">
          <a:xfrm>
            <a:off x="6636578" y="1679023"/>
            <a:ext cx="4195722" cy="3661604"/>
          </a:xfrm>
          <a:prstGeom prst="rect">
            <a:avLst/>
          </a:prstGeom>
          <a:noFill/>
        </p:spPr>
      </p:pic>
    </p:spTree>
    <p:custDataLst>
      <p:tags r:id="rId1"/>
    </p:custDataLst>
    <p:extLst>
      <p:ext uri="{BB962C8B-B14F-4D97-AF65-F5344CB8AC3E}">
        <p14:creationId xmlns=""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smtClean="0"/>
              <a:t>Industrial machinery downtime can lead to significant production losses and high maintenance costs. Traditional maintenance schedules are often reactive or time-based, which may not accurately prevent failures. This project aims to develop a machine learning model to predict equipment failure types in advance, enabling proactive maintenance and minimizing unexpected downtime.</a:t>
            </a:r>
            <a:endParaRPr lang="en-US" sz="2200" dirty="0"/>
          </a:p>
        </p:txBody>
      </p:sp>
    </p:spTree>
    <p:extLst>
      <p:ext uri="{BB962C8B-B14F-4D97-AF65-F5344CB8AC3E}">
        <p14:creationId xmlns=""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r>
              <a:rPr lang="en-US" sz="1800" b="1" dirty="0" smtClean="0">
                <a:latin typeface="Arial" pitchFamily="34" charset="0"/>
                <a:cs typeface="Arial" pitchFamily="34" charset="0"/>
              </a:rPr>
              <a:t>Data Collection:</a:t>
            </a:r>
            <a:r>
              <a:rPr lang="en-US" sz="1800" dirty="0" smtClean="0">
                <a:latin typeface="Arial" pitchFamily="34" charset="0"/>
                <a:cs typeface="Arial" pitchFamily="34" charset="0"/>
              </a:rPr>
              <a:t> Gathered historical and real-time operational data from industrial machines, including parameters like air and process temperature, rotational speed, torque, tool wear, and machine type.</a:t>
            </a:r>
          </a:p>
          <a:p>
            <a:r>
              <a:rPr lang="en-US" sz="1800" b="1" dirty="0" smtClean="0">
                <a:latin typeface="Arial" pitchFamily="34" charset="0"/>
                <a:cs typeface="Arial" pitchFamily="34" charset="0"/>
              </a:rPr>
              <a:t>Data Preprocessing:</a:t>
            </a:r>
            <a:r>
              <a:rPr lang="en-US" sz="1800" dirty="0" smtClean="0">
                <a:latin typeface="Arial" pitchFamily="34" charset="0"/>
                <a:cs typeface="Arial" pitchFamily="34" charset="0"/>
              </a:rPr>
              <a:t> Cleaned the data, handled missing values, encoded categorical features (machine type) using one-hot encoding, and split the dataset into training and test sets.</a:t>
            </a:r>
          </a:p>
          <a:p>
            <a:r>
              <a:rPr lang="en-US" sz="1800" b="1" dirty="0" smtClean="0">
                <a:latin typeface="Arial" pitchFamily="34" charset="0"/>
                <a:cs typeface="Arial" pitchFamily="34" charset="0"/>
              </a:rPr>
              <a:t>Handling Imbalance:</a:t>
            </a:r>
            <a:r>
              <a:rPr lang="en-US" sz="1800" dirty="0" smtClean="0">
                <a:latin typeface="Arial" pitchFamily="34" charset="0"/>
                <a:cs typeface="Arial" pitchFamily="34" charset="0"/>
              </a:rPr>
              <a:t> Applied </a:t>
            </a:r>
            <a:r>
              <a:rPr lang="en-US" sz="1800" b="1" dirty="0" smtClean="0">
                <a:latin typeface="Arial" pitchFamily="34" charset="0"/>
                <a:cs typeface="Arial" pitchFamily="34" charset="0"/>
              </a:rPr>
              <a:t>SMOTE</a:t>
            </a:r>
            <a:r>
              <a:rPr lang="en-US" sz="1800" dirty="0" smtClean="0">
                <a:latin typeface="Arial" pitchFamily="34" charset="0"/>
                <a:cs typeface="Arial" pitchFamily="34" charset="0"/>
              </a:rPr>
              <a:t> to balance minority failure types, ensuring the model learns to predict all types of failures effectively.</a:t>
            </a:r>
          </a:p>
          <a:p>
            <a:r>
              <a:rPr lang="en-US" sz="1800" b="1" dirty="0" smtClean="0">
                <a:latin typeface="Arial" pitchFamily="34" charset="0"/>
                <a:cs typeface="Arial" pitchFamily="34" charset="0"/>
              </a:rPr>
              <a:t>Feature Scaling &amp; Selection:</a:t>
            </a:r>
            <a:r>
              <a:rPr lang="en-US" sz="1800" dirty="0" smtClean="0">
                <a:latin typeface="Arial" pitchFamily="34" charset="0"/>
                <a:cs typeface="Arial" pitchFamily="34" charset="0"/>
              </a:rPr>
              <a:t> Standardized numerical features for uniformity and analyzed feature importance to identify key factors affecting machine failures.</a:t>
            </a:r>
          </a:p>
          <a:p>
            <a:r>
              <a:rPr lang="en-US" sz="1800" b="1" dirty="0" smtClean="0">
                <a:latin typeface="Arial" pitchFamily="34" charset="0"/>
                <a:cs typeface="Arial" pitchFamily="34" charset="0"/>
              </a:rPr>
              <a:t>Machine Learning Algorithms:</a:t>
            </a:r>
            <a:r>
              <a:rPr lang="en-US" sz="1800" dirty="0" smtClean="0">
                <a:latin typeface="Arial" pitchFamily="34" charset="0"/>
                <a:cs typeface="Arial" pitchFamily="34" charset="0"/>
              </a:rPr>
              <a:t> Trained a </a:t>
            </a:r>
            <a:r>
              <a:rPr lang="en-US" sz="1800" b="1" dirty="0" smtClean="0">
                <a:latin typeface="Arial" pitchFamily="34" charset="0"/>
                <a:cs typeface="Arial" pitchFamily="34" charset="0"/>
              </a:rPr>
              <a:t>Random Forest Classifier</a:t>
            </a:r>
            <a:r>
              <a:rPr lang="en-US" sz="1800" dirty="0" smtClean="0">
                <a:latin typeface="Arial" pitchFamily="34" charset="0"/>
                <a:cs typeface="Arial" pitchFamily="34" charset="0"/>
              </a:rPr>
              <a:t> due to its robustness, ability to handle categorical and numerical features, and interpretability.</a:t>
            </a:r>
          </a:p>
          <a:p>
            <a:r>
              <a:rPr lang="en-US" sz="1800" b="1" dirty="0" smtClean="0">
                <a:latin typeface="Arial" pitchFamily="34" charset="0"/>
                <a:cs typeface="Arial" pitchFamily="34" charset="0"/>
              </a:rPr>
              <a:t>Model Evaluation:</a:t>
            </a:r>
            <a:r>
              <a:rPr lang="en-US" sz="1800" dirty="0" smtClean="0">
                <a:latin typeface="Arial" pitchFamily="34" charset="0"/>
                <a:cs typeface="Arial" pitchFamily="34" charset="0"/>
              </a:rPr>
              <a:t> Assessed model performance using </a:t>
            </a:r>
            <a:r>
              <a:rPr lang="en-US" sz="1800" b="1" dirty="0" smtClean="0">
                <a:latin typeface="Arial" pitchFamily="34" charset="0"/>
                <a:cs typeface="Arial" pitchFamily="34" charset="0"/>
              </a:rPr>
              <a:t>accuracy, confusion matrix, classification report</a:t>
            </a:r>
            <a:r>
              <a:rPr lang="en-US" sz="1800" dirty="0" smtClean="0">
                <a:latin typeface="Arial" pitchFamily="34" charset="0"/>
                <a:cs typeface="Arial" pitchFamily="34" charset="0"/>
              </a:rPr>
              <a:t>, and feature importance charts to validate predictions.</a:t>
            </a:r>
          </a:p>
          <a:p>
            <a:r>
              <a:rPr lang="en-US" sz="1800" b="1" dirty="0" smtClean="0">
                <a:latin typeface="Arial" pitchFamily="34" charset="0"/>
                <a:cs typeface="Arial" pitchFamily="34" charset="0"/>
              </a:rPr>
              <a:t>Deployment &amp; User Input:</a:t>
            </a:r>
            <a:r>
              <a:rPr lang="en-US" sz="1800" dirty="0" smtClean="0">
                <a:latin typeface="Arial" pitchFamily="34" charset="0"/>
                <a:cs typeface="Arial" pitchFamily="34" charset="0"/>
              </a:rPr>
              <a:t> Built an interface to receive real-time machine parameters and predict failure type, enabling proactive maintenance decisions.</a:t>
            </a:r>
          </a:p>
          <a:p>
            <a:r>
              <a:rPr lang="en-US" sz="1800" b="1" dirty="0" smtClean="0">
                <a:latin typeface="Arial" pitchFamily="34" charset="0"/>
                <a:cs typeface="Arial" pitchFamily="34" charset="0"/>
              </a:rPr>
              <a:t>Business Impact:</a:t>
            </a:r>
            <a:r>
              <a:rPr lang="en-US" sz="1800" dirty="0" smtClean="0">
                <a:latin typeface="Arial" pitchFamily="34" charset="0"/>
                <a:cs typeface="Arial" pitchFamily="34" charset="0"/>
              </a:rPr>
              <a:t> The solution reduces unexpected downtime, lowers maintenance costs, and improves production efficiency by predicting failures before they occur.</a:t>
            </a:r>
          </a:p>
        </p:txBody>
      </p:sp>
    </p:spTree>
    <p:extLst>
      <p:ext uri="{BB962C8B-B14F-4D97-AF65-F5344CB8AC3E}">
        <p14:creationId xmlns=""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Autofit/>
          </a:bodyPr>
          <a:lstStyle/>
          <a:p>
            <a:r>
              <a:rPr lang="en-US" sz="1800" b="1" dirty="0" smtClean="0">
                <a:latin typeface="Arial" pitchFamily="34" charset="0"/>
                <a:cs typeface="Arial" pitchFamily="34" charset="0"/>
              </a:rPr>
              <a:t>System Requirements:</a:t>
            </a:r>
            <a:endParaRPr lang="en-US" sz="1800" dirty="0" smtClean="0">
              <a:latin typeface="Arial" pitchFamily="34" charset="0"/>
              <a:cs typeface="Arial" pitchFamily="34" charset="0"/>
            </a:endParaRPr>
          </a:p>
          <a:p>
            <a:pPr lvl="1"/>
            <a:r>
              <a:rPr lang="en-US" sz="1800" b="1" dirty="0" smtClean="0">
                <a:latin typeface="Arial" pitchFamily="34" charset="0"/>
                <a:cs typeface="Arial" pitchFamily="34" charset="0"/>
              </a:rPr>
              <a:t>Hardware:</a:t>
            </a:r>
            <a:r>
              <a:rPr lang="en-US" sz="1800" dirty="0" smtClean="0">
                <a:latin typeface="Arial" pitchFamily="34" charset="0"/>
                <a:cs typeface="Arial" pitchFamily="34" charset="0"/>
              </a:rPr>
              <a:t> Minimum 8 GB RAM, 2.5 GHz processor, and 10 GB free storage.</a:t>
            </a:r>
          </a:p>
          <a:p>
            <a:pPr lvl="1"/>
            <a:r>
              <a:rPr lang="en-US" sz="1800" b="1" dirty="0" smtClean="0">
                <a:latin typeface="Arial" pitchFamily="34" charset="0"/>
                <a:cs typeface="Arial" pitchFamily="34" charset="0"/>
              </a:rPr>
              <a:t>Software:</a:t>
            </a:r>
            <a:r>
              <a:rPr lang="en-US" sz="1800" dirty="0" smtClean="0">
                <a:latin typeface="Arial" pitchFamily="34" charset="0"/>
                <a:cs typeface="Arial" pitchFamily="34" charset="0"/>
              </a:rPr>
              <a:t> Python 3.8+, </a:t>
            </a:r>
            <a:r>
              <a:rPr lang="en-US" sz="1800" dirty="0" err="1" smtClean="0">
                <a:latin typeface="Arial" pitchFamily="34" charset="0"/>
                <a:cs typeface="Arial" pitchFamily="34" charset="0"/>
              </a:rPr>
              <a:t>Jupyter</a:t>
            </a:r>
            <a:r>
              <a:rPr lang="en-US" sz="1800" dirty="0" smtClean="0">
                <a:latin typeface="Arial" pitchFamily="34" charset="0"/>
                <a:cs typeface="Arial" pitchFamily="34" charset="0"/>
              </a:rPr>
              <a:t> Notebook or any Python IDE, compatible OS (Windows/Linux/Mac).</a:t>
            </a:r>
          </a:p>
          <a:p>
            <a:r>
              <a:rPr lang="en-US" sz="1800" b="1" dirty="0" smtClean="0">
                <a:latin typeface="Arial" pitchFamily="34" charset="0"/>
                <a:cs typeface="Arial" pitchFamily="34" charset="0"/>
              </a:rPr>
              <a:t>Libraries &amp; Tools Used:</a:t>
            </a:r>
            <a:endParaRPr lang="en-US" sz="1800" dirty="0" smtClean="0">
              <a:latin typeface="Arial" pitchFamily="34" charset="0"/>
              <a:cs typeface="Arial" pitchFamily="34" charset="0"/>
            </a:endParaRPr>
          </a:p>
          <a:p>
            <a:pPr lvl="1"/>
            <a:r>
              <a:rPr lang="en-US" sz="1800" b="1" dirty="0" smtClean="0">
                <a:latin typeface="Arial" pitchFamily="34" charset="0"/>
                <a:cs typeface="Arial" pitchFamily="34" charset="0"/>
              </a:rPr>
              <a:t>Data Handling:</a:t>
            </a:r>
            <a:r>
              <a:rPr lang="en-US" sz="1800" dirty="0" smtClean="0">
                <a:latin typeface="Arial" pitchFamily="34" charset="0"/>
                <a:cs typeface="Arial" pitchFamily="34" charset="0"/>
              </a:rPr>
              <a:t> pandas, </a:t>
            </a:r>
            <a:r>
              <a:rPr lang="en-US" sz="1800" dirty="0" err="1" smtClean="0">
                <a:latin typeface="Arial" pitchFamily="34" charset="0"/>
                <a:cs typeface="Arial" pitchFamily="34" charset="0"/>
              </a:rPr>
              <a:t>numpy</a:t>
            </a:r>
            <a:endParaRPr lang="en-US" sz="1800" dirty="0" smtClean="0">
              <a:latin typeface="Arial" pitchFamily="34" charset="0"/>
              <a:cs typeface="Arial" pitchFamily="34" charset="0"/>
            </a:endParaRPr>
          </a:p>
          <a:p>
            <a:pPr lvl="1"/>
            <a:r>
              <a:rPr lang="en-US" sz="1800" b="1" dirty="0" smtClean="0">
                <a:latin typeface="Arial" pitchFamily="34" charset="0"/>
                <a:cs typeface="Arial" pitchFamily="34" charset="0"/>
              </a:rPr>
              <a:t>Data Visualization:</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matplotlib</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seaborn</a:t>
            </a:r>
            <a:endParaRPr lang="en-US" sz="1800" dirty="0" smtClean="0">
              <a:latin typeface="Arial" pitchFamily="34" charset="0"/>
              <a:cs typeface="Arial" pitchFamily="34" charset="0"/>
            </a:endParaRPr>
          </a:p>
          <a:p>
            <a:pPr lvl="1"/>
            <a:r>
              <a:rPr lang="en-US" sz="1800" b="1" dirty="0" smtClean="0">
                <a:latin typeface="Arial" pitchFamily="34" charset="0"/>
                <a:cs typeface="Arial" pitchFamily="34" charset="0"/>
              </a:rPr>
              <a:t>Machine Learning:</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scikit</a:t>
            </a:r>
            <a:r>
              <a:rPr lang="en-US" sz="1800" dirty="0" smtClean="0">
                <a:latin typeface="Arial" pitchFamily="34" charset="0"/>
                <a:cs typeface="Arial" pitchFamily="34" charset="0"/>
              </a:rPr>
              <a:t>-learn (</a:t>
            </a:r>
            <a:r>
              <a:rPr lang="en-US" sz="1800" dirty="0" err="1" smtClean="0">
                <a:latin typeface="Arial" pitchFamily="34" charset="0"/>
                <a:cs typeface="Arial" pitchFamily="34" charset="0"/>
              </a:rPr>
              <a:t>RandomForestClassifier</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train_test_split</a:t>
            </a:r>
            <a:r>
              <a:rPr lang="en-US" sz="1800" dirty="0" smtClean="0">
                <a:latin typeface="Arial" pitchFamily="34" charset="0"/>
                <a:cs typeface="Arial" pitchFamily="34" charset="0"/>
              </a:rPr>
              <a:t>, metrics)</a:t>
            </a:r>
          </a:p>
          <a:p>
            <a:pPr lvl="1"/>
            <a:r>
              <a:rPr lang="en-US" sz="1800" b="1" dirty="0" smtClean="0">
                <a:latin typeface="Arial" pitchFamily="34" charset="0"/>
                <a:cs typeface="Arial" pitchFamily="34" charset="0"/>
              </a:rPr>
              <a:t>Imbalance Handling:</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imblearn</a:t>
            </a:r>
            <a:r>
              <a:rPr lang="en-US" sz="1800" dirty="0" smtClean="0">
                <a:latin typeface="Arial" pitchFamily="34" charset="0"/>
                <a:cs typeface="Arial" pitchFamily="34" charset="0"/>
              </a:rPr>
              <a:t> (SMOTE)</a:t>
            </a:r>
          </a:p>
          <a:p>
            <a:pPr lvl="1"/>
            <a:r>
              <a:rPr lang="en-US" sz="1800" b="1" dirty="0" smtClean="0">
                <a:latin typeface="Arial" pitchFamily="34" charset="0"/>
                <a:cs typeface="Arial" pitchFamily="34" charset="0"/>
              </a:rPr>
              <a:t>Model Persistence:</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joblib</a:t>
            </a:r>
            <a:endParaRPr lang="en-US" sz="1800" dirty="0" smtClean="0">
              <a:latin typeface="Arial" pitchFamily="34" charset="0"/>
              <a:cs typeface="Arial" pitchFamily="34" charset="0"/>
            </a:endParaRPr>
          </a:p>
          <a:p>
            <a:pPr lvl="1"/>
            <a:r>
              <a:rPr lang="en-US" sz="1800" b="1" dirty="0" err="1" smtClean="0">
                <a:latin typeface="Arial" pitchFamily="34" charset="0"/>
                <a:cs typeface="Arial" pitchFamily="34" charset="0"/>
              </a:rPr>
              <a:t>Hyperparameter</a:t>
            </a:r>
            <a:r>
              <a:rPr lang="en-US" sz="1800" b="1" dirty="0" smtClean="0">
                <a:latin typeface="Arial" pitchFamily="34" charset="0"/>
                <a:cs typeface="Arial" pitchFamily="34" charset="0"/>
              </a:rPr>
              <a:t> Tuning:</a:t>
            </a:r>
            <a:r>
              <a:rPr lang="en-US" sz="1800" dirty="0" smtClean="0">
                <a:latin typeface="Arial" pitchFamily="34" charset="0"/>
                <a:cs typeface="Arial" pitchFamily="34" charset="0"/>
              </a:rPr>
              <a:t> </a:t>
            </a:r>
            <a:r>
              <a:rPr lang="en-US" sz="1800" dirty="0" err="1" smtClean="0">
                <a:latin typeface="Arial" pitchFamily="34" charset="0"/>
                <a:cs typeface="Arial" pitchFamily="34" charset="0"/>
              </a:rPr>
              <a:t>GridSearchCV</a:t>
            </a:r>
            <a:r>
              <a:rPr lang="en-US" sz="1800" dirty="0" smtClean="0">
                <a:latin typeface="Arial" pitchFamily="34" charset="0"/>
                <a:cs typeface="Arial" pitchFamily="34" charset="0"/>
              </a:rPr>
              <a:t> from </a:t>
            </a:r>
            <a:r>
              <a:rPr lang="en-US" sz="1800" dirty="0" err="1" smtClean="0">
                <a:latin typeface="Arial" pitchFamily="34" charset="0"/>
                <a:cs typeface="Arial" pitchFamily="34" charset="0"/>
              </a:rPr>
              <a:t>scikit</a:t>
            </a:r>
            <a:r>
              <a:rPr lang="en-US" sz="1800" dirty="0" smtClean="0">
                <a:latin typeface="Arial" pitchFamily="34" charset="0"/>
                <a:cs typeface="Arial" pitchFamily="34" charset="0"/>
              </a:rPr>
              <a:t>-learn</a:t>
            </a:r>
          </a:p>
          <a:p>
            <a:pPr lvl="1"/>
            <a:r>
              <a:rPr lang="en-US" sz="1800" b="1" dirty="0" smtClean="0">
                <a:latin typeface="Arial" pitchFamily="34" charset="0"/>
                <a:cs typeface="Arial" pitchFamily="34" charset="0"/>
              </a:rPr>
              <a:t>Others:</a:t>
            </a:r>
            <a:r>
              <a:rPr lang="en-US" sz="1800" dirty="0" smtClean="0">
                <a:latin typeface="Arial" pitchFamily="34" charset="0"/>
                <a:cs typeface="Arial" pitchFamily="34" charset="0"/>
              </a:rPr>
              <a:t> Standard Python libraries for user input, file handling, and data preprocessing</a:t>
            </a:r>
          </a:p>
          <a:p>
            <a:r>
              <a:rPr lang="en-US" sz="1800" b="1" dirty="0" smtClean="0">
                <a:latin typeface="Arial" pitchFamily="34" charset="0"/>
                <a:cs typeface="Arial" pitchFamily="34" charset="0"/>
              </a:rPr>
              <a:t>System Workflow:</a:t>
            </a:r>
            <a:endParaRPr lang="en-US" sz="1800" dirty="0" smtClean="0">
              <a:latin typeface="Arial" pitchFamily="34" charset="0"/>
              <a:cs typeface="Arial" pitchFamily="34" charset="0"/>
            </a:endParaRPr>
          </a:p>
          <a:p>
            <a:pPr lvl="1"/>
            <a:r>
              <a:rPr lang="en-US" sz="1800" dirty="0" smtClean="0">
                <a:latin typeface="Arial" pitchFamily="34" charset="0"/>
                <a:cs typeface="Arial" pitchFamily="34" charset="0"/>
              </a:rPr>
              <a:t>Data Collection → 2. Preprocessing &amp; Encoding → 3. Train-Test Split → 4. Handle Imbalanced Data → 5. Model Training → 6. Model Evaluation → 7. Deployment &amp; User Prediction.</a:t>
            </a:r>
          </a:p>
        </p:txBody>
      </p:sp>
    </p:spTree>
    <p:extLst>
      <p:ext uri="{BB962C8B-B14F-4D97-AF65-F5344CB8AC3E}">
        <p14:creationId xmlns=""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Autofit/>
          </a:bodyPr>
          <a:lstStyle/>
          <a:p>
            <a:r>
              <a:rPr lang="en-US" sz="1800" b="1" dirty="0" smtClean="0">
                <a:latin typeface="Arial" pitchFamily="34" charset="0"/>
                <a:cs typeface="Arial" pitchFamily="34" charset="0"/>
              </a:rPr>
              <a:t>Algorithm Selection:</a:t>
            </a:r>
            <a:endParaRPr lang="en-US" sz="1800" dirty="0" smtClean="0">
              <a:latin typeface="Arial" pitchFamily="34" charset="0"/>
              <a:cs typeface="Arial" pitchFamily="34" charset="0"/>
            </a:endParaRPr>
          </a:p>
          <a:p>
            <a:pPr lvl="1"/>
            <a:r>
              <a:rPr lang="en-US" sz="1800" dirty="0" smtClean="0">
                <a:latin typeface="Arial" pitchFamily="34" charset="0"/>
                <a:cs typeface="Arial" pitchFamily="34" charset="0"/>
              </a:rPr>
              <a:t>Chose </a:t>
            </a:r>
            <a:r>
              <a:rPr lang="en-US" sz="1800" b="1" dirty="0" smtClean="0">
                <a:latin typeface="Arial" pitchFamily="34" charset="0"/>
                <a:cs typeface="Arial" pitchFamily="34" charset="0"/>
              </a:rPr>
              <a:t>Random Forest Classifier</a:t>
            </a:r>
            <a:r>
              <a:rPr lang="en-US" sz="1800" dirty="0" smtClean="0">
                <a:latin typeface="Arial" pitchFamily="34" charset="0"/>
                <a:cs typeface="Arial" pitchFamily="34" charset="0"/>
              </a:rPr>
              <a:t> for its robustness, ability to handle both numerical and categorical features, high accuracy, and interpretability in predicting machine failure types.</a:t>
            </a:r>
          </a:p>
          <a:p>
            <a:r>
              <a:rPr lang="en-US" sz="1800" b="1" dirty="0" smtClean="0">
                <a:latin typeface="Arial" pitchFamily="34" charset="0"/>
                <a:cs typeface="Arial" pitchFamily="34" charset="0"/>
              </a:rPr>
              <a:t>Data Input:</a:t>
            </a:r>
            <a:endParaRPr lang="en-US" sz="1800" dirty="0" smtClean="0">
              <a:latin typeface="Arial" pitchFamily="34" charset="0"/>
              <a:cs typeface="Arial" pitchFamily="34" charset="0"/>
            </a:endParaRPr>
          </a:p>
          <a:p>
            <a:pPr lvl="1"/>
            <a:r>
              <a:rPr lang="en-US" sz="1800" dirty="0" smtClean="0">
                <a:latin typeface="Arial" pitchFamily="34" charset="0"/>
                <a:cs typeface="Arial" pitchFamily="34" charset="0"/>
              </a:rPr>
              <a:t>Collected operational parameters: Air &amp; Process Temperature, Rotational Speed, Torque, Tool Wear, and Machine Type.</a:t>
            </a:r>
          </a:p>
          <a:p>
            <a:pPr lvl="1"/>
            <a:r>
              <a:rPr lang="en-US" sz="1800" dirty="0" smtClean="0">
                <a:latin typeface="Arial" pitchFamily="34" charset="0"/>
                <a:cs typeface="Arial" pitchFamily="34" charset="0"/>
              </a:rPr>
              <a:t>Categorical features (Machine Type) encoded using </a:t>
            </a:r>
            <a:r>
              <a:rPr lang="en-US" sz="1800" b="1" dirty="0" smtClean="0">
                <a:latin typeface="Arial" pitchFamily="34" charset="0"/>
                <a:cs typeface="Arial" pitchFamily="34" charset="0"/>
              </a:rPr>
              <a:t>one-hot encoding</a:t>
            </a:r>
            <a:r>
              <a:rPr lang="en-US" sz="1800" dirty="0" smtClean="0">
                <a:latin typeface="Arial" pitchFamily="34" charset="0"/>
                <a:cs typeface="Arial" pitchFamily="34" charset="0"/>
              </a:rPr>
              <a:t> for model compatibility.</a:t>
            </a:r>
          </a:p>
          <a:p>
            <a:r>
              <a:rPr lang="en-US" sz="1800" b="1" dirty="0" smtClean="0">
                <a:latin typeface="Arial" pitchFamily="34" charset="0"/>
                <a:cs typeface="Arial" pitchFamily="34" charset="0"/>
              </a:rPr>
              <a:t>Training Process:</a:t>
            </a:r>
            <a:endParaRPr lang="en-US" sz="1800" dirty="0" smtClean="0">
              <a:latin typeface="Arial" pitchFamily="34" charset="0"/>
              <a:cs typeface="Arial" pitchFamily="34" charset="0"/>
            </a:endParaRPr>
          </a:p>
          <a:p>
            <a:pPr lvl="1"/>
            <a:r>
              <a:rPr lang="en-US" sz="1800" dirty="0" smtClean="0">
                <a:latin typeface="Arial" pitchFamily="34" charset="0"/>
                <a:cs typeface="Arial" pitchFamily="34" charset="0"/>
              </a:rPr>
              <a:t>Split dataset into </a:t>
            </a:r>
            <a:r>
              <a:rPr lang="en-US" sz="1800" b="1" dirty="0" smtClean="0">
                <a:latin typeface="Arial" pitchFamily="34" charset="0"/>
                <a:cs typeface="Arial" pitchFamily="34" charset="0"/>
              </a:rPr>
              <a:t>training and test sets.</a:t>
            </a:r>
            <a:endParaRPr lang="en-US" sz="1800" dirty="0" smtClean="0">
              <a:latin typeface="Arial" pitchFamily="34" charset="0"/>
              <a:cs typeface="Arial" pitchFamily="34" charset="0"/>
            </a:endParaRPr>
          </a:p>
          <a:p>
            <a:pPr lvl="1"/>
            <a:r>
              <a:rPr lang="en-US" sz="1800" dirty="0" smtClean="0">
                <a:latin typeface="Arial" pitchFamily="34" charset="0"/>
                <a:cs typeface="Arial" pitchFamily="34" charset="0"/>
              </a:rPr>
              <a:t>Addressed class imbalance using </a:t>
            </a:r>
            <a:r>
              <a:rPr lang="en-US" sz="1800" b="1" dirty="0" smtClean="0">
                <a:latin typeface="Arial" pitchFamily="34" charset="0"/>
                <a:cs typeface="Arial" pitchFamily="34" charset="0"/>
              </a:rPr>
              <a:t>SMOTE</a:t>
            </a:r>
            <a:r>
              <a:rPr lang="en-US" sz="1800" dirty="0" smtClean="0">
                <a:latin typeface="Arial" pitchFamily="34" charset="0"/>
                <a:cs typeface="Arial" pitchFamily="34" charset="0"/>
              </a:rPr>
              <a:t> to ensure minority failure types are learned.</a:t>
            </a:r>
          </a:p>
          <a:p>
            <a:pPr lvl="1"/>
            <a:r>
              <a:rPr lang="en-US" sz="1800" dirty="0" smtClean="0">
                <a:latin typeface="Arial" pitchFamily="34" charset="0"/>
                <a:cs typeface="Arial" pitchFamily="34" charset="0"/>
              </a:rPr>
              <a:t>Trained Random Forest with </a:t>
            </a:r>
            <a:r>
              <a:rPr lang="en-US" sz="1800" dirty="0" err="1" smtClean="0">
                <a:latin typeface="Arial" pitchFamily="34" charset="0"/>
                <a:cs typeface="Arial" pitchFamily="34" charset="0"/>
              </a:rPr>
              <a:t>hyperparameter</a:t>
            </a:r>
            <a:r>
              <a:rPr lang="en-US" sz="1800" dirty="0" smtClean="0">
                <a:latin typeface="Arial" pitchFamily="34" charset="0"/>
                <a:cs typeface="Arial" pitchFamily="34" charset="0"/>
              </a:rPr>
              <a:t> tuning for optimal performance.</a:t>
            </a:r>
          </a:p>
          <a:p>
            <a:pPr lvl="1"/>
            <a:r>
              <a:rPr lang="en-US" sz="1800" dirty="0" smtClean="0">
                <a:latin typeface="Arial" pitchFamily="34" charset="0"/>
                <a:cs typeface="Arial" pitchFamily="34" charset="0"/>
              </a:rPr>
              <a:t>Evaluated model using </a:t>
            </a:r>
            <a:r>
              <a:rPr lang="en-US" sz="1800" b="1" dirty="0" smtClean="0">
                <a:latin typeface="Arial" pitchFamily="34" charset="0"/>
                <a:cs typeface="Arial" pitchFamily="34" charset="0"/>
              </a:rPr>
              <a:t>accuracy, classification report</a:t>
            </a:r>
            <a:r>
              <a:rPr lang="en-US" sz="1800" dirty="0" smtClean="0">
                <a:latin typeface="Arial" pitchFamily="34" charset="0"/>
                <a:cs typeface="Arial" pitchFamily="34" charset="0"/>
              </a:rPr>
              <a:t>, and feature importance.</a:t>
            </a:r>
          </a:p>
          <a:p>
            <a:r>
              <a:rPr lang="en-US" sz="1800" b="1" dirty="0" smtClean="0">
                <a:latin typeface="Arial" pitchFamily="34" charset="0"/>
                <a:cs typeface="Arial" pitchFamily="34" charset="0"/>
              </a:rPr>
              <a:t>Prediction Process / Deployment:</a:t>
            </a:r>
            <a:endParaRPr lang="en-US" sz="1800" dirty="0" smtClean="0">
              <a:latin typeface="Arial" pitchFamily="34" charset="0"/>
              <a:cs typeface="Arial" pitchFamily="34" charset="0"/>
            </a:endParaRPr>
          </a:p>
          <a:p>
            <a:pPr lvl="1"/>
            <a:r>
              <a:rPr lang="en-US" sz="1800" dirty="0" smtClean="0">
                <a:latin typeface="Arial" pitchFamily="34" charset="0"/>
                <a:cs typeface="Arial" pitchFamily="34" charset="0"/>
              </a:rPr>
              <a:t>Built an interface to accept </a:t>
            </a:r>
            <a:r>
              <a:rPr lang="en-US" sz="1800" b="1" dirty="0" smtClean="0">
                <a:latin typeface="Arial" pitchFamily="34" charset="0"/>
                <a:cs typeface="Arial" pitchFamily="34" charset="0"/>
              </a:rPr>
              <a:t>real-time machine input</a:t>
            </a:r>
            <a:r>
              <a:rPr lang="en-US" sz="1800" dirty="0" smtClean="0">
                <a:latin typeface="Arial" pitchFamily="34" charset="0"/>
                <a:cs typeface="Arial" pitchFamily="34" charset="0"/>
              </a:rPr>
              <a:t>.</a:t>
            </a:r>
          </a:p>
          <a:p>
            <a:pPr lvl="1"/>
            <a:r>
              <a:rPr lang="en-US" sz="1800" dirty="0" smtClean="0">
                <a:latin typeface="Arial" pitchFamily="34" charset="0"/>
                <a:cs typeface="Arial" pitchFamily="34" charset="0"/>
              </a:rPr>
              <a:t>Preprocessed user input (encoding &amp; </a:t>
            </a:r>
            <a:r>
              <a:rPr lang="en-US" sz="1800" dirty="0" err="1" smtClean="0">
                <a:latin typeface="Arial" pitchFamily="34" charset="0"/>
                <a:cs typeface="Arial" pitchFamily="34" charset="0"/>
              </a:rPr>
              <a:t>reindexing</a:t>
            </a:r>
            <a:r>
              <a:rPr lang="en-US" sz="1800" dirty="0" smtClean="0">
                <a:latin typeface="Arial" pitchFamily="34" charset="0"/>
                <a:cs typeface="Arial" pitchFamily="34" charset="0"/>
              </a:rPr>
              <a:t> to match training features).</a:t>
            </a:r>
          </a:p>
          <a:p>
            <a:pPr lvl="1"/>
            <a:r>
              <a:rPr lang="en-US" sz="1800" dirty="0" smtClean="0">
                <a:latin typeface="Arial" pitchFamily="34" charset="0"/>
                <a:cs typeface="Arial" pitchFamily="34" charset="0"/>
              </a:rPr>
              <a:t>Model predicts </a:t>
            </a:r>
            <a:r>
              <a:rPr lang="en-US" sz="1800" b="1" dirty="0" smtClean="0">
                <a:latin typeface="Arial" pitchFamily="34" charset="0"/>
                <a:cs typeface="Arial" pitchFamily="34" charset="0"/>
              </a:rPr>
              <a:t>failure type</a:t>
            </a:r>
            <a:r>
              <a:rPr lang="en-US" sz="1800" dirty="0" smtClean="0">
                <a:latin typeface="Arial" pitchFamily="34" charset="0"/>
                <a:cs typeface="Arial" pitchFamily="34" charset="0"/>
              </a:rPr>
              <a:t> instantly, enabling proactive maintenance and reducing downtime.</a:t>
            </a:r>
          </a:p>
        </p:txBody>
      </p:sp>
    </p:spTree>
    <p:extLst>
      <p:ext uri="{BB962C8B-B14F-4D97-AF65-F5344CB8AC3E}">
        <p14:creationId xmlns=""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a:bodyPr>
          <a:lstStyle/>
          <a:p>
            <a:pPr marL="0" indent="0">
              <a:buNone/>
            </a:pPr>
            <a:endParaRPr lang="en-US" sz="2200" dirty="0"/>
          </a:p>
        </p:txBody>
      </p:sp>
      <p:pic>
        <p:nvPicPr>
          <p:cNvPr id="1026" name="Picture 2"/>
          <p:cNvPicPr>
            <a:picLocks noChangeAspect="1" noChangeArrowheads="1"/>
          </p:cNvPicPr>
          <p:nvPr/>
        </p:nvPicPr>
        <p:blipFill>
          <a:blip r:embed="rId2"/>
          <a:srcRect/>
          <a:stretch>
            <a:fillRect/>
          </a:stretch>
        </p:blipFill>
        <p:spPr bwMode="auto">
          <a:xfrm>
            <a:off x="0" y="1190487"/>
            <a:ext cx="6908801" cy="407062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7187234" y="1259646"/>
            <a:ext cx="4752975" cy="4000500"/>
          </a:xfrm>
          <a:prstGeom prst="rect">
            <a:avLst/>
          </a:prstGeom>
          <a:noFill/>
          <a:ln w="9525">
            <a:noFill/>
            <a:miter lim="800000"/>
            <a:headEnd/>
            <a:tailEnd/>
          </a:ln>
          <a:effectLst/>
        </p:spPr>
      </p:pic>
    </p:spTree>
    <p:extLst>
      <p:ext uri="{BB962C8B-B14F-4D97-AF65-F5344CB8AC3E}">
        <p14:creationId xmlns=""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a:bodyPr>
          <a:lstStyle/>
          <a:p>
            <a:pPr marL="0" indent="0">
              <a:buNone/>
            </a:pPr>
            <a:endParaRPr lang="en-US" sz="2200" dirty="0"/>
          </a:p>
        </p:txBody>
      </p:sp>
      <p:pic>
        <p:nvPicPr>
          <p:cNvPr id="2050" name="Picture 2"/>
          <p:cNvPicPr>
            <a:picLocks noChangeAspect="1" noChangeArrowheads="1"/>
          </p:cNvPicPr>
          <p:nvPr/>
        </p:nvPicPr>
        <p:blipFill>
          <a:blip r:embed="rId2"/>
          <a:srcRect/>
          <a:stretch>
            <a:fillRect/>
          </a:stretch>
        </p:blipFill>
        <p:spPr bwMode="auto">
          <a:xfrm>
            <a:off x="0" y="1225688"/>
            <a:ext cx="6545263" cy="51816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604116" y="653360"/>
            <a:ext cx="4501206" cy="3594256"/>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7260535" y="4354167"/>
            <a:ext cx="3632752" cy="2262214"/>
          </a:xfrm>
          <a:prstGeom prst="rect">
            <a:avLst/>
          </a:prstGeom>
          <a:noFill/>
          <a:ln w="9525">
            <a:noFill/>
            <a:miter lim="800000"/>
            <a:headEnd/>
            <a:tailEnd/>
          </a:ln>
          <a:effectLst/>
        </p:spPr>
      </p:pic>
    </p:spTree>
    <p:extLst>
      <p:ext uri="{BB962C8B-B14F-4D97-AF65-F5344CB8AC3E}">
        <p14:creationId xmlns=""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1800" dirty="0" smtClean="0">
                <a:latin typeface="Arial" pitchFamily="34" charset="0"/>
                <a:cs typeface="Arial" pitchFamily="34" charset="0"/>
              </a:rPr>
              <a:t>The predictive maintenance model successfully predicts the type of machinery failures using operational parameters, enabling proactive maintenance. By handling class imbalance and selecting important features, the Random Forest Classifier achieves high accuracy and reliable performance. Implementing this solution reduces unexpected downtime, minimizes maintenance costs, and improves overall production efficiency. This project demonstrates the practical benefits of machine learning in industrial maintenance decision-making.</a:t>
            </a:r>
            <a:endParaRPr lang="en-US" sz="1800" dirty="0">
              <a:latin typeface="Arial" pitchFamily="34" charset="0"/>
              <a:cs typeface="Arial" pitchFamily="34" charset="0"/>
            </a:endParaRPr>
          </a:p>
        </p:txBody>
      </p:sp>
    </p:spTree>
    <p:extLst>
      <p:ext uri="{BB962C8B-B14F-4D97-AF65-F5344CB8AC3E}">
        <p14:creationId xmlns="" xmlns:p14="http://schemas.microsoft.com/office/powerpoint/2010/main" val="224530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algn="just">
              <a:buNone/>
            </a:pPr>
            <a:r>
              <a:rPr lang="en-US" sz="1800" dirty="0" smtClean="0">
                <a:latin typeface="Arial" pitchFamily="34" charset="0"/>
                <a:cs typeface="Arial" pitchFamily="34" charset="0"/>
              </a:rPr>
              <a:t>   The predictive maintenance system can be enhanced by integrating real time </a:t>
            </a:r>
            <a:r>
              <a:rPr lang="en-US" sz="1800" dirty="0" err="1" smtClean="0">
                <a:latin typeface="Arial" pitchFamily="34" charset="0"/>
                <a:cs typeface="Arial" pitchFamily="34" charset="0"/>
              </a:rPr>
              <a:t>IoT</a:t>
            </a:r>
            <a:r>
              <a:rPr lang="en-US" sz="1800" dirty="0" smtClean="0">
                <a:latin typeface="Arial" pitchFamily="34" charset="0"/>
                <a:cs typeface="Arial" pitchFamily="34" charset="0"/>
              </a:rPr>
              <a:t> sensor data for continuous monitoring. Advanced algorithms like </a:t>
            </a:r>
            <a:r>
              <a:rPr lang="en-US" sz="1800" dirty="0" err="1" smtClean="0">
                <a:latin typeface="Arial" pitchFamily="34" charset="0"/>
                <a:cs typeface="Arial" pitchFamily="34" charset="0"/>
              </a:rPr>
              <a:t>XGBoost</a:t>
            </a:r>
            <a:r>
              <a:rPr lang="en-US" sz="1800" dirty="0" smtClean="0">
                <a:latin typeface="Arial" pitchFamily="34" charset="0"/>
                <a:cs typeface="Arial" pitchFamily="34" charset="0"/>
              </a:rPr>
              <a:t> or deep learning models could further improve prediction accuracy. Predictive insights can be extended to schedule optimal maintenance and reduce energy consumption. Additionally, the system can be scaled for multiple machines and factories, supporting enterprise-wide smart maintenance strategies.</a:t>
            </a:r>
          </a:p>
        </p:txBody>
      </p:sp>
    </p:spTree>
    <p:extLst>
      <p:ext uri="{BB962C8B-B14F-4D97-AF65-F5344CB8AC3E}">
        <p14:creationId xmlns="" xmlns:p14="http://schemas.microsoft.com/office/powerpoint/2010/main" val="374419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r>
              <a:rPr lang="en-US" sz="1800" dirty="0" err="1" smtClean="0">
                <a:latin typeface="Arial" pitchFamily="34" charset="0"/>
                <a:cs typeface="Arial" pitchFamily="34" charset="0"/>
              </a:rPr>
              <a:t>Breiman</a:t>
            </a:r>
            <a:r>
              <a:rPr lang="en-US" sz="1800" dirty="0" smtClean="0">
                <a:latin typeface="Arial" pitchFamily="34" charset="0"/>
                <a:cs typeface="Arial" pitchFamily="34" charset="0"/>
              </a:rPr>
              <a:t>, L. (2001). </a:t>
            </a:r>
            <a:r>
              <a:rPr lang="en-US" sz="1800" i="1" dirty="0" smtClean="0">
                <a:latin typeface="Arial" pitchFamily="34" charset="0"/>
                <a:cs typeface="Arial" pitchFamily="34" charset="0"/>
              </a:rPr>
              <a:t>Random Forests.</a:t>
            </a:r>
            <a:r>
              <a:rPr lang="en-US" sz="1800" dirty="0" smtClean="0">
                <a:latin typeface="Arial" pitchFamily="34" charset="0"/>
                <a:cs typeface="Arial" pitchFamily="34" charset="0"/>
              </a:rPr>
              <a:t> Machine Learning, 45(1), 5–32.</a:t>
            </a:r>
          </a:p>
          <a:p>
            <a:r>
              <a:rPr lang="en-US" sz="1800" dirty="0" err="1" smtClean="0">
                <a:latin typeface="Arial" pitchFamily="34" charset="0"/>
                <a:cs typeface="Arial" pitchFamily="34" charset="0"/>
              </a:rPr>
              <a:t>Chawla</a:t>
            </a:r>
            <a:r>
              <a:rPr lang="en-US" sz="1800" dirty="0" smtClean="0">
                <a:latin typeface="Arial" pitchFamily="34" charset="0"/>
                <a:cs typeface="Arial" pitchFamily="34" charset="0"/>
              </a:rPr>
              <a:t>, N. V., Bowyer, K. W., Hall, L. O., &amp; </a:t>
            </a:r>
            <a:r>
              <a:rPr lang="en-US" sz="1800" dirty="0" err="1" smtClean="0">
                <a:latin typeface="Arial" pitchFamily="34" charset="0"/>
                <a:cs typeface="Arial" pitchFamily="34" charset="0"/>
              </a:rPr>
              <a:t>Kegelmeyer</a:t>
            </a:r>
            <a:r>
              <a:rPr lang="en-US" sz="1800" dirty="0" smtClean="0">
                <a:latin typeface="Arial" pitchFamily="34" charset="0"/>
                <a:cs typeface="Arial" pitchFamily="34" charset="0"/>
              </a:rPr>
              <a:t>, W. P. (2002). </a:t>
            </a:r>
            <a:r>
              <a:rPr lang="en-US" sz="1800" i="1" dirty="0" smtClean="0">
                <a:latin typeface="Arial" pitchFamily="34" charset="0"/>
                <a:cs typeface="Arial" pitchFamily="34" charset="0"/>
              </a:rPr>
              <a:t>SMOTE: Synthetic Minority Over-sampling Technique.</a:t>
            </a:r>
            <a:r>
              <a:rPr lang="en-US" sz="1800" dirty="0" smtClean="0">
                <a:latin typeface="Arial" pitchFamily="34" charset="0"/>
                <a:cs typeface="Arial" pitchFamily="34" charset="0"/>
              </a:rPr>
              <a:t> Journal of Artificial Intelligence Research, 16, 321–357.</a:t>
            </a:r>
            <a:endParaRPr lang="en-US" sz="1800" dirty="0">
              <a:latin typeface="Arial" pitchFamily="34" charset="0"/>
              <a:cs typeface="Arial" pitchFamily="34" charset="0"/>
            </a:endParaRPr>
          </a:p>
          <a:p>
            <a:pPr marL="0" indent="0">
              <a:buNone/>
            </a:pPr>
            <a:endParaRPr lang="en-IN" sz="1800" dirty="0" smtClean="0">
              <a:latin typeface="Arial" pitchFamily="34" charset="0"/>
              <a:cs typeface="Arial" pitchFamily="34" charset="0"/>
            </a:endParaRPr>
          </a:p>
          <a:p>
            <a:pPr marL="0" indent="0">
              <a:buNone/>
            </a:pPr>
            <a:r>
              <a:rPr lang="en-IN" sz="1800" dirty="0" err="1" smtClean="0">
                <a:latin typeface="Arial" pitchFamily="34" charset="0"/>
                <a:cs typeface="Arial" pitchFamily="34" charset="0"/>
              </a:rPr>
              <a:t>GitHub</a:t>
            </a:r>
            <a:r>
              <a:rPr lang="en-IN" sz="1800" dirty="0" smtClean="0">
                <a:latin typeface="Arial" pitchFamily="34" charset="0"/>
                <a:cs typeface="Arial" pitchFamily="34" charset="0"/>
              </a:rPr>
              <a:t> </a:t>
            </a:r>
            <a:r>
              <a:rPr lang="en-IN" sz="1800" dirty="0">
                <a:latin typeface="Arial" pitchFamily="34" charset="0"/>
                <a:cs typeface="Arial" pitchFamily="34" charset="0"/>
              </a:rPr>
              <a:t>Link:</a:t>
            </a:r>
            <a:r>
              <a:rPr lang="en-IN" sz="1800" dirty="0">
                <a:solidFill>
                  <a:srgbClr val="0070C0"/>
                </a:solidFill>
                <a:latin typeface="Arial" pitchFamily="34" charset="0"/>
                <a:cs typeface="Arial" pitchFamily="34" charset="0"/>
              </a:rPr>
              <a:t> </a:t>
            </a:r>
            <a:r>
              <a:rPr lang="en-IN" sz="1800" dirty="0" smtClean="0">
                <a:solidFill>
                  <a:srgbClr val="0070C0"/>
                </a:solidFill>
                <a:latin typeface="Arial" pitchFamily="34" charset="0"/>
                <a:cs typeface="Arial" pitchFamily="34" charset="0"/>
                <a:hlinkClick r:id="rId2"/>
              </a:rPr>
              <a:t>https://</a:t>
            </a:r>
            <a:r>
              <a:rPr lang="en-IN" sz="1800" dirty="0" smtClean="0">
                <a:solidFill>
                  <a:srgbClr val="0070C0"/>
                </a:solidFill>
                <a:latin typeface="Arial" pitchFamily="34" charset="0"/>
                <a:cs typeface="Arial" pitchFamily="34" charset="0"/>
                <a:hlinkClick r:id="rId2"/>
              </a:rPr>
              <a:t>github.com/tejasvi1211/Predictive-Maintenance-Model</a:t>
            </a:r>
            <a:r>
              <a:rPr lang="en-IN" sz="1800" dirty="0" smtClean="0">
                <a:solidFill>
                  <a:srgbClr val="0070C0"/>
                </a:solidFill>
                <a:latin typeface="Arial" pitchFamily="34" charset="0"/>
                <a:cs typeface="Arial" pitchFamily="34" charset="0"/>
              </a:rPr>
              <a:t> </a:t>
            </a:r>
            <a:endParaRPr lang="en-IN" sz="1800" u="sng" dirty="0">
              <a:solidFill>
                <a:srgbClr val="0070C0"/>
              </a:solidFill>
              <a:latin typeface="Arial" pitchFamily="34" charset="0"/>
              <a:cs typeface="Arial" pitchFamily="34" charset="0"/>
            </a:endParaRPr>
          </a:p>
          <a:p>
            <a:pPr marL="0" indent="0">
              <a:buNone/>
            </a:pPr>
            <a:endParaRPr lang="en-IN" sz="1800" u="sng" dirty="0">
              <a:solidFill>
                <a:srgbClr val="0070C0"/>
              </a:solidFill>
              <a:latin typeface="Arial" pitchFamily="34" charset="0"/>
              <a:cs typeface="Arial" pitchFamily="34" charset="0"/>
            </a:endParaRPr>
          </a:p>
          <a:p>
            <a:pPr marL="0" indent="0">
              <a:buNone/>
            </a:pPr>
            <a:endParaRPr lang="en-IN" sz="1800" dirty="0">
              <a:latin typeface="Arial" pitchFamily="34" charset="0"/>
              <a:cs typeface="Arial" pitchFamily="34" charset="0"/>
            </a:endParaRPr>
          </a:p>
        </p:txBody>
      </p:sp>
    </p:spTree>
    <p:extLst>
      <p:ext uri="{BB962C8B-B14F-4D97-AF65-F5344CB8AC3E}">
        <p14:creationId xmlns="" xmlns:p14="http://schemas.microsoft.com/office/powerpoint/2010/main" val="169170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810</Words>
  <Application>Microsoft Office PowerPoint</Application>
  <PresentationFormat>Custom</PresentationFormat>
  <Paragraphs>70</Paragraphs>
  <Slides>12</Slides>
  <Notes>2</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1_Office Theme</vt:lpstr>
      <vt:lpstr>Custom Design</vt:lpstr>
      <vt:lpstr>Slide 1</vt:lpstr>
      <vt:lpstr>OUTLINE:</vt:lpstr>
      <vt:lpstr>Problem Statement:</vt:lpstr>
      <vt:lpstr>Proposed Solution:</vt:lpstr>
      <vt:lpstr>System  Approach:</vt:lpstr>
      <vt:lpstr>Algorithm &amp; Deployment:</vt:lpstr>
      <vt:lpstr>Result:</vt:lpstr>
      <vt:lpstr>Result:</vt:lpstr>
      <vt:lpstr>Conclusion:</vt:lpstr>
      <vt:lpstr>Future scope:</vt:lpstr>
      <vt:lpstr>References:</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admin</cp:lastModifiedBy>
  <cp:revision>105</cp:revision>
  <dcterms:created xsi:type="dcterms:W3CDTF">2024-05-21T11:55:07Z</dcterms:created>
  <dcterms:modified xsi:type="dcterms:W3CDTF">2026-02-15T11:23:16Z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